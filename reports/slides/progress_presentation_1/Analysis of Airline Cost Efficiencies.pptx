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Telegraf" charset="1" panose="00000500000000000000"/>
      <p:regular r:id="rId24"/>
    </p:embeddedFont>
    <p:embeddedFont>
      <p:font typeface="Telegraf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559838" y="5670929"/>
            <a:ext cx="12592439" cy="0"/>
          </a:xfrm>
          <a:prstGeom prst="line">
            <a:avLst/>
          </a:prstGeom>
          <a:ln cap="flat" w="3810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2446" y="7386726"/>
            <a:ext cx="1815059" cy="1815059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84692" y="7586929"/>
            <a:ext cx="1470567" cy="1414654"/>
          </a:xfrm>
          <a:custGeom>
            <a:avLst/>
            <a:gdLst/>
            <a:ahLst/>
            <a:cxnLst/>
            <a:rect r="r" b="b" t="t" l="l"/>
            <a:pathLst>
              <a:path h="1414654" w="1470567">
                <a:moveTo>
                  <a:pt x="0" y="0"/>
                </a:moveTo>
                <a:lnTo>
                  <a:pt x="1470567" y="0"/>
                </a:lnTo>
                <a:lnTo>
                  <a:pt x="1470567" y="1414653"/>
                </a:lnTo>
                <a:lnTo>
                  <a:pt x="0" y="1414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t="-5546" r="-18043" b="-359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7842" y="1028700"/>
            <a:ext cx="16224436" cy="4262612"/>
          </a:xfrm>
          <a:custGeom>
            <a:avLst/>
            <a:gdLst/>
            <a:ahLst/>
            <a:cxnLst/>
            <a:rect r="r" b="b" t="t" l="l"/>
            <a:pathLst>
              <a:path h="4262612" w="16224436">
                <a:moveTo>
                  <a:pt x="0" y="0"/>
                </a:moveTo>
                <a:lnTo>
                  <a:pt x="16224436" y="0"/>
                </a:lnTo>
                <a:lnTo>
                  <a:pt x="16224436" y="4262612"/>
                </a:lnTo>
                <a:lnTo>
                  <a:pt x="0" y="4262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912" r="0" b="-574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59838" y="8451171"/>
            <a:ext cx="8604965" cy="104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Jood Alaswad, Arnol Garcia, Marissa Miller, Brandon Thacker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604254"/>
            <a:ext cx="2709829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DAT490</a:t>
            </a:r>
            <a:r>
              <a:rPr lang="en-US" b="true" sz="1999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 - Data Sc</a:t>
            </a:r>
            <a:r>
              <a:rPr lang="en-US" b="true" sz="1999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ience Capstone Progress Report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9838" y="5955364"/>
            <a:ext cx="11859105" cy="252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10000" u="sng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</a:t>
            </a:r>
            <a:r>
              <a:rPr lang="en-US" sz="10000" u="sng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is of Airline Cost Efficiencies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7715289" y="1233391"/>
            <a:ext cx="8097035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700038" y="2685643"/>
            <a:ext cx="1307733" cy="1307733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06106" y="3002789"/>
            <a:ext cx="380800" cy="673441"/>
          </a:xfrm>
          <a:custGeom>
            <a:avLst/>
            <a:gdLst/>
            <a:ahLst/>
            <a:cxnLst/>
            <a:rect r="r" b="b" t="t" l="l"/>
            <a:pathLst>
              <a:path h="673441" w="380800">
                <a:moveTo>
                  <a:pt x="0" y="0"/>
                </a:moveTo>
                <a:lnTo>
                  <a:pt x="380801" y="0"/>
                </a:lnTo>
                <a:lnTo>
                  <a:pt x="380801" y="673441"/>
                </a:lnTo>
                <a:lnTo>
                  <a:pt x="0" y="673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44361" y="1028700"/>
            <a:ext cx="1222175" cy="1222175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49512" y="1153088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3" y="0"/>
                </a:lnTo>
                <a:lnTo>
                  <a:pt x="1011873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043" t="-5546" r="-18043" b="-3591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67644" y="5252402"/>
            <a:ext cx="8596162" cy="3542602"/>
          </a:xfrm>
          <a:custGeom>
            <a:avLst/>
            <a:gdLst/>
            <a:ahLst/>
            <a:cxnLst/>
            <a:rect r="r" b="b" t="t" l="l"/>
            <a:pathLst>
              <a:path h="3542602" w="8596162">
                <a:moveTo>
                  <a:pt x="0" y="0"/>
                </a:moveTo>
                <a:lnTo>
                  <a:pt x="8596162" y="0"/>
                </a:lnTo>
                <a:lnTo>
                  <a:pt x="8596162" y="3542602"/>
                </a:lnTo>
                <a:lnTo>
                  <a:pt x="0" y="3542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14" t="-31431" r="0" b="-3300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67644" y="2577541"/>
            <a:ext cx="6225486" cy="182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6"/>
              </a:lnSpc>
            </a:pPr>
            <a:r>
              <a:rPr lang="en-US" b="true" sz="7200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Contents of the Report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67632" y="5615063"/>
            <a:ext cx="3191467" cy="55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4"/>
              </a:lnSpc>
            </a:pPr>
            <a:r>
              <a:rPr lang="en-US" sz="3067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Methodology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67632" y="3945763"/>
            <a:ext cx="3191467" cy="109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4"/>
              </a:lnSpc>
            </a:pPr>
            <a:r>
              <a:rPr lang="en-US" sz="3067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Literature Review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7632" y="2276464"/>
            <a:ext cx="3191467" cy="55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4"/>
              </a:lnSpc>
            </a:pPr>
            <a:r>
              <a:rPr lang="en-US" sz="3067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7644" y="1153889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92456" y="5490015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  <a:spcBef>
                <a:spcPct val="0"/>
              </a:spcBef>
            </a:pPr>
            <a:r>
              <a:rPr lang="en-US" b="true" sz="4244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92456" y="3820716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  <a:spcBef>
                <a:spcPct val="0"/>
              </a:spcBef>
            </a:pPr>
            <a:r>
              <a:rPr lang="en-US" b="true" sz="4244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92456" y="2151416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  <a:spcBef>
                <a:spcPct val="0"/>
              </a:spcBef>
            </a:pPr>
            <a:r>
              <a:rPr lang="en-US" b="true" sz="4244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932071" y="832199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4361" y="8785479"/>
            <a:ext cx="1562804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93440" y="7284362"/>
            <a:ext cx="3191467" cy="163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4"/>
              </a:lnSpc>
            </a:pPr>
            <a:r>
              <a:rPr lang="en-US" sz="3067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Current Progress and Next Steps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18264" y="7159315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  <a:spcBef>
                <a:spcPct val="0"/>
              </a:spcBef>
            </a:pPr>
            <a:r>
              <a:rPr lang="en-US" b="true" sz="4244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4D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507165" y="1150557"/>
            <a:ext cx="8703629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2507165" y="9033474"/>
            <a:ext cx="3983736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197783" y="0"/>
            <a:ext cx="6090217" cy="10287000"/>
          </a:xfrm>
          <a:custGeom>
            <a:avLst/>
            <a:gdLst/>
            <a:ahLst/>
            <a:cxnLst/>
            <a:rect r="r" b="b" t="t" l="l"/>
            <a:pathLst>
              <a:path h="10287000" w="6090217">
                <a:moveTo>
                  <a:pt x="0" y="0"/>
                </a:moveTo>
                <a:lnTo>
                  <a:pt x="6090217" y="0"/>
                </a:lnTo>
                <a:lnTo>
                  <a:pt x="60902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24" r="0" b="-262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05893" y="4041596"/>
            <a:ext cx="8170014" cy="110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7"/>
              </a:lnSpc>
            </a:pPr>
            <a:r>
              <a:rPr lang="en-US" b="true" sz="7303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7303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4361" y="1167493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4361" y="990600"/>
            <a:ext cx="1562804" cy="281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Section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08385" y="8944447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7"/>
              </a:lnSpc>
            </a:pP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361" y="8785479"/>
            <a:ext cx="1562804" cy="70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  <a:p>
            <a:pPr algn="l">
              <a:lnSpc>
                <a:spcPts val="187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361" y="1028700"/>
            <a:ext cx="1222175" cy="122217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06966" y="1889016"/>
            <a:ext cx="15581034" cy="8397984"/>
            <a:chOff x="0" y="0"/>
            <a:chExt cx="5270622" cy="2840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70621" cy="2840799"/>
            </a:xfrm>
            <a:custGeom>
              <a:avLst/>
              <a:gdLst/>
              <a:ahLst/>
              <a:cxnLst/>
              <a:rect r="r" b="b" t="t" l="l"/>
              <a:pathLst>
                <a:path h="2840799" w="5270621">
                  <a:moveTo>
                    <a:pt x="0" y="0"/>
                  </a:moveTo>
                  <a:lnTo>
                    <a:pt x="5270621" y="0"/>
                  </a:lnTo>
                  <a:lnTo>
                    <a:pt x="5270621" y="2840799"/>
                  </a:lnTo>
                  <a:lnTo>
                    <a:pt x="0" y="2840799"/>
                  </a:ln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67644" y="1153889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DAT490 - Data Scien</a:t>
            </a: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ce Capstone 2026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7715289" y="1233391"/>
            <a:ext cx="8097035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49512" y="1153088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3" y="0"/>
                </a:lnTo>
                <a:lnTo>
                  <a:pt x="1011873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t="-5546" r="-18043" b="-3591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73759" y="5362438"/>
            <a:ext cx="7391463" cy="4924562"/>
          </a:xfrm>
          <a:custGeom>
            <a:avLst/>
            <a:gdLst/>
            <a:ahLst/>
            <a:cxnLst/>
            <a:rect r="r" b="b" t="t" l="l"/>
            <a:pathLst>
              <a:path h="4924562" w="7391463">
                <a:moveTo>
                  <a:pt x="0" y="0"/>
                </a:moveTo>
                <a:lnTo>
                  <a:pt x="7391464" y="0"/>
                </a:lnTo>
                <a:lnTo>
                  <a:pt x="7391464" y="4924562"/>
                </a:lnTo>
                <a:lnTo>
                  <a:pt x="0" y="4924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44361" y="8785479"/>
            <a:ext cx="1562804" cy="70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  <a:p>
            <a:pPr algn="l">
              <a:lnSpc>
                <a:spcPts val="187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932071" y="832199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38819" y="3613203"/>
            <a:ext cx="7264328" cy="3143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400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The U.S. airline industry is highly competitive and focused on controlling costs while maintaining efficiency and performance. Low-cost carriers are often seen as more efficient, while legacy airlines may provide better service, reliability, and more flight options. </a:t>
            </a:r>
          </a:p>
          <a:p>
            <a:pPr algn="l">
              <a:lnSpc>
                <a:spcPts val="355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038819" y="7077743"/>
            <a:ext cx="7303286" cy="269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1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We will discuss whether reducing costs actually improves operations or results in trade-offs that harm service quality.  Does a lower operating cost lead to profit maximization in their domestic market? </a:t>
            </a:r>
          </a:p>
          <a:p>
            <a:pPr algn="l" marL="0" indent="0" lvl="0">
              <a:lnSpc>
                <a:spcPts val="3551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359804" y="4158833"/>
            <a:ext cx="6419374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1800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The United States consistently dominates global air traffic, handling roughly 20-25% of worldwide air travel.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59804" y="2505238"/>
            <a:ext cx="5899496" cy="174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71"/>
              </a:lnSpc>
              <a:spcBef>
                <a:spcPct val="0"/>
              </a:spcBef>
            </a:pPr>
            <a:r>
              <a:rPr lang="en-US" b="true" sz="11001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20-25</a:t>
            </a:r>
            <a:r>
              <a:rPr lang="en-US" b="true" sz="11001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38819" y="2044774"/>
            <a:ext cx="8170014" cy="110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7"/>
              </a:lnSpc>
            </a:pPr>
            <a:r>
              <a:rPr lang="en-US" b="true" sz="7303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I</a:t>
            </a:r>
            <a:r>
              <a:rPr lang="en-US" b="true" sz="7303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ntroduction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361" y="1028700"/>
            <a:ext cx="1222175" cy="122217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7715289" y="1233391"/>
            <a:ext cx="8097035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49512" y="1153088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3" y="0"/>
                </a:lnTo>
                <a:lnTo>
                  <a:pt x="1011873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t="-5546" r="-18043" b="-359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92800" y="3902669"/>
            <a:ext cx="5355631" cy="5355631"/>
          </a:xfrm>
          <a:custGeom>
            <a:avLst/>
            <a:gdLst/>
            <a:ahLst/>
            <a:cxnLst/>
            <a:rect r="r" b="b" t="t" l="l"/>
            <a:pathLst>
              <a:path h="5355631" w="5355631">
                <a:moveTo>
                  <a:pt x="0" y="0"/>
                </a:moveTo>
                <a:lnTo>
                  <a:pt x="5355631" y="0"/>
                </a:lnTo>
                <a:lnTo>
                  <a:pt x="5355631" y="5355631"/>
                </a:lnTo>
                <a:lnTo>
                  <a:pt x="0" y="5355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490522" y="6475971"/>
            <a:ext cx="8202278" cy="1992720"/>
            <a:chOff x="0" y="0"/>
            <a:chExt cx="2160271" cy="5248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0271" cy="524832"/>
            </a:xfrm>
            <a:custGeom>
              <a:avLst/>
              <a:gdLst/>
              <a:ahLst/>
              <a:cxnLst/>
              <a:rect r="r" b="b" t="t" l="l"/>
              <a:pathLst>
                <a:path h="524832" w="2160271">
                  <a:moveTo>
                    <a:pt x="48138" y="0"/>
                  </a:moveTo>
                  <a:lnTo>
                    <a:pt x="2112133" y="0"/>
                  </a:lnTo>
                  <a:cubicBezTo>
                    <a:pt x="2138719" y="0"/>
                    <a:pt x="2160271" y="21552"/>
                    <a:pt x="2160271" y="48138"/>
                  </a:cubicBezTo>
                  <a:lnTo>
                    <a:pt x="2160271" y="476694"/>
                  </a:lnTo>
                  <a:cubicBezTo>
                    <a:pt x="2160271" y="503280"/>
                    <a:pt x="2138719" y="524832"/>
                    <a:pt x="2112133" y="524832"/>
                  </a:cubicBezTo>
                  <a:lnTo>
                    <a:pt x="48138" y="524832"/>
                  </a:lnTo>
                  <a:cubicBezTo>
                    <a:pt x="21552" y="524832"/>
                    <a:pt x="0" y="503280"/>
                    <a:pt x="0" y="476694"/>
                  </a:cubicBezTo>
                  <a:lnTo>
                    <a:pt x="0" y="48138"/>
                  </a:lnTo>
                  <a:cubicBezTo>
                    <a:pt x="0" y="21552"/>
                    <a:pt x="21552" y="0"/>
                    <a:pt x="48138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160271" cy="553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1"/>
                </a:lnSpc>
              </a:pPr>
              <a:r>
                <a:rPr lang="en-US" b="true" sz="2599">
                  <a:solidFill>
                    <a:srgbClr val="F8F3E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What is the relationship between airline cost efficiency and operational performance, and are there trade-offs between cost minimization and service quality?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167644" y="3996436"/>
            <a:ext cx="8525156" cy="218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47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Airlines try to reduce costs while maintaining reliable service</a:t>
            </a:r>
          </a:p>
          <a:p>
            <a:pPr algn="l" marL="474978" indent="-237489" lvl="1">
              <a:lnSpc>
                <a:spcPts val="347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Low-cost carriers are often seen as more efficient</a:t>
            </a:r>
          </a:p>
          <a:p>
            <a:pPr algn="l" marL="474978" indent="-237489" lvl="1">
              <a:lnSpc>
                <a:spcPts val="347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It is unclear whether lower costs improve or hurt performance</a:t>
            </a:r>
          </a:p>
          <a:p>
            <a:pPr algn="l">
              <a:lnSpc>
                <a:spcPts val="347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67644" y="2431850"/>
            <a:ext cx="12459412" cy="1161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8"/>
              </a:lnSpc>
            </a:pPr>
            <a:r>
              <a:rPr lang="en-US" b="true" sz="8600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Motivating Problems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7644" y="1153889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32071" y="832199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361" y="8785479"/>
            <a:ext cx="1562804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7644" y="0"/>
            <a:ext cx="15120356" cy="10287000"/>
            <a:chOff x="0" y="0"/>
            <a:chExt cx="5114787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4787" cy="3479800"/>
            </a:xfrm>
            <a:custGeom>
              <a:avLst/>
              <a:gdLst/>
              <a:ahLst/>
              <a:cxnLst/>
              <a:rect r="r" b="b" t="t" l="l"/>
              <a:pathLst>
                <a:path h="3479800" w="5114787">
                  <a:moveTo>
                    <a:pt x="0" y="0"/>
                  </a:moveTo>
                  <a:lnTo>
                    <a:pt x="5114787" y="0"/>
                  </a:lnTo>
                  <a:lnTo>
                    <a:pt x="5114787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4148587" y="9239250"/>
            <a:ext cx="8031864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4148587" y="1254379"/>
            <a:ext cx="8031864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44361" y="1028700"/>
            <a:ext cx="1222175" cy="1222175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49512" y="1153088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3" y="0"/>
                </a:lnTo>
                <a:lnTo>
                  <a:pt x="1011873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t="-5546" r="-18043" b="-3591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80451" y="1746628"/>
            <a:ext cx="5593846" cy="6793745"/>
          </a:xfrm>
          <a:custGeom>
            <a:avLst/>
            <a:gdLst/>
            <a:ahLst/>
            <a:cxnLst/>
            <a:rect r="r" b="b" t="t" l="l"/>
            <a:pathLst>
              <a:path h="6793745" w="5593846">
                <a:moveTo>
                  <a:pt x="0" y="0"/>
                </a:moveTo>
                <a:lnTo>
                  <a:pt x="5593846" y="0"/>
                </a:lnTo>
                <a:lnTo>
                  <a:pt x="5593846" y="6793744"/>
                </a:lnTo>
                <a:lnTo>
                  <a:pt x="0" y="6793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808" r="-3033" b="-2444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48587" y="1763612"/>
            <a:ext cx="7792552" cy="208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6"/>
              </a:lnSpc>
            </a:pPr>
            <a:r>
              <a:rPr lang="en-US" b="true" sz="8200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b="true" sz="8200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esearch questions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48587" y="4173456"/>
            <a:ext cx="7792552" cy="462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3317"/>
              </a:lnSpc>
              <a:buAutoNum type="arabicPeriod" startAt="1"/>
            </a:pPr>
            <a:r>
              <a:rPr lang="en-US" sz="20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How do different cost structures relate to operational efficiency measures such as load factor, capacity utilization, and passengers per flight?</a:t>
            </a:r>
          </a:p>
          <a:p>
            <a:pPr algn="l" marL="453388" indent="-226694" lvl="1">
              <a:lnSpc>
                <a:spcPts val="3317"/>
              </a:lnSpc>
              <a:buAutoNum type="arabicPeriod" startAt="1"/>
            </a:pPr>
            <a:r>
              <a:rPr lang="en-US" sz="20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Is there</a:t>
            </a:r>
            <a:r>
              <a:rPr lang="en-US" sz="20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 a relationship between operating costs and service performance metrics such as delays, reliability, and cancellations?</a:t>
            </a:r>
          </a:p>
          <a:p>
            <a:pPr algn="l" marL="453388" indent="-226694" lvl="1">
              <a:lnSpc>
                <a:spcPts val="3317"/>
              </a:lnSpc>
              <a:buAutoNum type="arabicPeriod" startAt="1"/>
            </a:pPr>
            <a:r>
              <a:rPr lang="en-US" sz="20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How do low-cost and legacy carriers differ in their balance between cost, efficiency, and performance?</a:t>
            </a:r>
          </a:p>
          <a:p>
            <a:pPr algn="l" marL="453388" indent="-226694" lvl="1">
              <a:lnSpc>
                <a:spcPts val="3317"/>
              </a:lnSpc>
              <a:buAutoNum type="arabicPeriod" startAt="1"/>
            </a:pPr>
            <a:r>
              <a:rPr lang="en-US" sz="20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How have these relationships changed across pre-COVID, COVID, and post-COVID periods?</a:t>
            </a:r>
          </a:p>
          <a:p>
            <a:pPr algn="l">
              <a:lnSpc>
                <a:spcPts val="331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142940" y="8624062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4361" y="8785479"/>
            <a:ext cx="1562804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1310" y="1172138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7"/>
              </a:lnSpc>
            </a:pP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4D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507165" y="1150557"/>
            <a:ext cx="8703629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2507165" y="9033474"/>
            <a:ext cx="3983736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197783" y="0"/>
            <a:ext cx="6090217" cy="10287000"/>
          </a:xfrm>
          <a:custGeom>
            <a:avLst/>
            <a:gdLst/>
            <a:ahLst/>
            <a:cxnLst/>
            <a:rect r="r" b="b" t="t" l="l"/>
            <a:pathLst>
              <a:path h="10287000" w="6090217">
                <a:moveTo>
                  <a:pt x="0" y="0"/>
                </a:moveTo>
                <a:lnTo>
                  <a:pt x="6090217" y="0"/>
                </a:lnTo>
                <a:lnTo>
                  <a:pt x="60902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24" r="0" b="-262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05893" y="4041596"/>
            <a:ext cx="8170014" cy="110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7"/>
              </a:lnSpc>
            </a:pPr>
            <a:r>
              <a:rPr lang="en-US" b="true" sz="7303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Li</a:t>
            </a:r>
            <a:r>
              <a:rPr lang="en-US" b="true" sz="7303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terature Review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4361" y="1167493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4361" y="990600"/>
            <a:ext cx="1562804" cy="281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Section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08385" y="8944447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7"/>
              </a:lnSpc>
            </a:pP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361" y="8785479"/>
            <a:ext cx="1562804" cy="70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  <a:p>
            <a:pPr algn="l">
              <a:lnSpc>
                <a:spcPts val="187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361" y="1028700"/>
            <a:ext cx="1222175" cy="122217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7715289" y="1233391"/>
            <a:ext cx="8097035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49512" y="1153088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3" y="0"/>
                </a:lnTo>
                <a:lnTo>
                  <a:pt x="1011873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t="-5546" r="-18043" b="-3591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56281" y="1929818"/>
            <a:ext cx="3322591" cy="2171785"/>
          </a:xfrm>
          <a:custGeom>
            <a:avLst/>
            <a:gdLst/>
            <a:ahLst/>
            <a:cxnLst/>
            <a:rect r="r" b="b" t="t" l="l"/>
            <a:pathLst>
              <a:path h="2171785" w="3322591">
                <a:moveTo>
                  <a:pt x="0" y="0"/>
                </a:moveTo>
                <a:lnTo>
                  <a:pt x="3322591" y="0"/>
                </a:lnTo>
                <a:lnTo>
                  <a:pt x="3322591" y="2171785"/>
                </a:lnTo>
                <a:lnTo>
                  <a:pt x="0" y="2171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94" t="0" r="-636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73189" y="4696940"/>
            <a:ext cx="3488774" cy="1902049"/>
          </a:xfrm>
          <a:custGeom>
            <a:avLst/>
            <a:gdLst/>
            <a:ahLst/>
            <a:cxnLst/>
            <a:rect r="r" b="b" t="t" l="l"/>
            <a:pathLst>
              <a:path h="1902049" w="3488774">
                <a:moveTo>
                  <a:pt x="0" y="0"/>
                </a:moveTo>
                <a:lnTo>
                  <a:pt x="3488775" y="0"/>
                </a:lnTo>
                <a:lnTo>
                  <a:pt x="3488775" y="1902049"/>
                </a:lnTo>
                <a:lnTo>
                  <a:pt x="0" y="1902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94" t="-13018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73189" y="7199064"/>
            <a:ext cx="3488774" cy="2091061"/>
          </a:xfrm>
          <a:custGeom>
            <a:avLst/>
            <a:gdLst/>
            <a:ahLst/>
            <a:cxnLst/>
            <a:rect r="r" b="b" t="t" l="l"/>
            <a:pathLst>
              <a:path h="2091061" w="3488774">
                <a:moveTo>
                  <a:pt x="0" y="0"/>
                </a:moveTo>
                <a:lnTo>
                  <a:pt x="3488775" y="0"/>
                </a:lnTo>
                <a:lnTo>
                  <a:pt x="3488775" y="2091061"/>
                </a:lnTo>
                <a:lnTo>
                  <a:pt x="0" y="2091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879" t="0" r="-12432" b="-836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87222" y="3097527"/>
            <a:ext cx="4966868" cy="20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b="true" sz="8000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Literature Review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87222" y="5552714"/>
            <a:ext cx="4751652" cy="3537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literature shows that airline efficiency is shaped by business model, network design, and cost structure. Low-cost carriers often appear more cost-efficient, but lower costs do not always translate to better service outcomes. Across the literature, a key open question is whether cost minimization improves operational performance or creates trade-offs in delays, cancellations, and reliability.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381064" y="2149034"/>
            <a:ext cx="4792709" cy="7295586"/>
            <a:chOff x="0" y="0"/>
            <a:chExt cx="6390279" cy="972744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98373"/>
              <a:ext cx="6228307" cy="1615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5"/>
                </a:lnSpc>
              </a:pPr>
              <a:r>
                <a:rPr lang="en-US" sz="20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U.S. airline deregulation increased competition and cost pressure</a:t>
              </a:r>
            </a:p>
            <a:p>
              <a:pPr algn="l">
                <a:lnSpc>
                  <a:spcPts val="3275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744541"/>
              <a:ext cx="6390279" cy="1615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5"/>
                </a:lnSpc>
              </a:pPr>
              <a:r>
                <a:rPr lang="en-US" sz="20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Low-cost and legacy carriers developed distinct business models</a:t>
              </a:r>
            </a:p>
            <a:p>
              <a:pPr algn="l">
                <a:lnSpc>
                  <a:spcPts val="3275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658489"/>
              <a:ext cx="6390279" cy="1068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5"/>
                </a:lnSpc>
              </a:pPr>
              <a:r>
                <a:rPr lang="en-US" sz="20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Efficiency depends on utilization, network design, and scale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19050"/>
              <a:ext cx="4761885" cy="580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91"/>
                </a:lnSpc>
              </a:pPr>
              <a:r>
                <a:rPr lang="en-US" sz="2799" b="true">
                  <a:solidFill>
                    <a:srgbClr val="2E4D8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1978</a:t>
              </a:r>
              <a:r>
                <a:rPr lang="en-US" sz="2799" b="true">
                  <a:solidFill>
                    <a:srgbClr val="2E4D8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deregulation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488182"/>
              <a:ext cx="4761885" cy="1114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91"/>
                </a:lnSpc>
              </a:pPr>
              <a:r>
                <a:rPr lang="en-US" sz="2799" b="true">
                  <a:solidFill>
                    <a:srgbClr val="2E4D8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Ri</a:t>
              </a:r>
              <a:r>
                <a:rPr lang="en-US" sz="2799" b="true">
                  <a:solidFill>
                    <a:srgbClr val="2E4D8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se of low-cost carriers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874266"/>
              <a:ext cx="4761885" cy="16476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91"/>
                </a:lnSpc>
              </a:pPr>
              <a:r>
                <a:rPr lang="en-US" sz="2799" b="true">
                  <a:solidFill>
                    <a:srgbClr val="2E4D8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Mod</a:t>
              </a:r>
              <a:r>
                <a:rPr lang="en-US" sz="2799" b="true">
                  <a:solidFill>
                    <a:srgbClr val="2E4D8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ern competition and efficiency focus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932071" y="832199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08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67644" y="1153889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4361" y="8785479"/>
            <a:ext cx="1562804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7644" y="0"/>
            <a:ext cx="9906457" cy="10287000"/>
            <a:chOff x="0" y="0"/>
            <a:chExt cx="3351073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51073" cy="3479800"/>
            </a:xfrm>
            <a:custGeom>
              <a:avLst/>
              <a:gdLst/>
              <a:ahLst/>
              <a:cxnLst/>
              <a:rect r="r" b="b" t="t" l="l"/>
              <a:pathLst>
                <a:path h="3479800" w="3351073">
                  <a:moveTo>
                    <a:pt x="0" y="0"/>
                  </a:moveTo>
                  <a:lnTo>
                    <a:pt x="3351073" y="0"/>
                  </a:lnTo>
                  <a:lnTo>
                    <a:pt x="3351073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4148587" y="9239250"/>
            <a:ext cx="8031864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4148587" y="1254379"/>
            <a:ext cx="8031864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44361" y="1028700"/>
            <a:ext cx="1222175" cy="1222175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585274" y="-121219"/>
            <a:ext cx="5702726" cy="10408219"/>
          </a:xfrm>
          <a:custGeom>
            <a:avLst/>
            <a:gdLst/>
            <a:ahLst/>
            <a:cxnLst/>
            <a:rect r="r" b="b" t="t" l="l"/>
            <a:pathLst>
              <a:path h="10408219" w="5702726">
                <a:moveTo>
                  <a:pt x="0" y="0"/>
                </a:moveTo>
                <a:lnTo>
                  <a:pt x="5702726" y="0"/>
                </a:lnTo>
                <a:lnTo>
                  <a:pt x="5702726" y="10408219"/>
                </a:lnTo>
                <a:lnTo>
                  <a:pt x="0" y="10408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50" t="-5203" r="-1215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48587" y="1387729"/>
            <a:ext cx="7792552" cy="304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5"/>
              </a:lnSpc>
            </a:pPr>
            <a:r>
              <a:rPr lang="en-US" b="true" sz="8199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Controversies and Open Questions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48587" y="4614007"/>
            <a:ext cx="7792552" cy="546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099" u="sng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Controversies</a:t>
            </a:r>
          </a:p>
          <a:p>
            <a:pPr algn="l" marL="453388" indent="-226694" lvl="1">
              <a:lnSpc>
                <a:spcPts val="3317"/>
              </a:lnSpc>
              <a:buFont typeface="Arial"/>
              <a:buChar char="•"/>
            </a:pPr>
            <a:r>
              <a:rPr lang="en-US" sz="20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Are delays a sign of inefficiency, or a byproduct of hub optimization?</a:t>
            </a:r>
          </a:p>
          <a:p>
            <a:pPr algn="l" marL="453388" indent="-226694" lvl="1">
              <a:lnSpc>
                <a:spcPts val="3317"/>
              </a:lnSpc>
              <a:buFont typeface="Arial"/>
              <a:buChar char="•"/>
            </a:pPr>
            <a:r>
              <a:rPr lang="en-US" sz="20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Are low-cost carriers always more efficient, or does this depend on how efficiency</a:t>
            </a:r>
            <a:r>
              <a:rPr lang="en-US" sz="20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 is measured?</a:t>
            </a:r>
          </a:p>
          <a:p>
            <a:pPr algn="l">
              <a:lnSpc>
                <a:spcPts val="3317"/>
              </a:lnSpc>
            </a:pPr>
          </a:p>
          <a:p>
            <a:pPr algn="l">
              <a:lnSpc>
                <a:spcPts val="3317"/>
              </a:lnSpc>
            </a:pPr>
            <a:r>
              <a:rPr lang="en-US" sz="2099" u="sng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Open questions</a:t>
            </a:r>
          </a:p>
          <a:p>
            <a:pPr algn="l" marL="453388" indent="-226694" lvl="1">
              <a:lnSpc>
                <a:spcPts val="3317"/>
              </a:lnSpc>
              <a:buFont typeface="Arial"/>
              <a:buChar char="•"/>
            </a:pPr>
            <a:r>
              <a:rPr lang="en-US" sz="20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Do lower operating costs improve performance or create service trade-offs?</a:t>
            </a:r>
          </a:p>
          <a:p>
            <a:pPr algn="l" marL="453388" indent="-226694" lvl="1">
              <a:lnSpc>
                <a:spcPts val="3317"/>
              </a:lnSpc>
              <a:buFont typeface="Arial"/>
              <a:buChar char="•"/>
            </a:pPr>
            <a:r>
              <a:rPr lang="en-US" sz="20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Did these relationships change after COVID?</a:t>
            </a:r>
          </a:p>
          <a:p>
            <a:pPr algn="l">
              <a:lnSpc>
                <a:spcPts val="3317"/>
              </a:lnSpc>
            </a:pPr>
          </a:p>
          <a:p>
            <a:pPr algn="l">
              <a:lnSpc>
                <a:spcPts val="3317"/>
              </a:lnSpc>
            </a:pPr>
          </a:p>
          <a:p>
            <a:pPr algn="l">
              <a:lnSpc>
                <a:spcPts val="331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142940" y="8624062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4361" y="8785479"/>
            <a:ext cx="1562804" cy="70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  <a:p>
            <a:pPr algn="l">
              <a:lnSpc>
                <a:spcPts val="1871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49512" y="1153088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3" y="0"/>
                </a:lnTo>
                <a:lnTo>
                  <a:pt x="1011873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043" t="-5546" r="-18043" b="-3591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4D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507165" y="1150557"/>
            <a:ext cx="8703629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2507165" y="9033474"/>
            <a:ext cx="3983736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197783" y="0"/>
            <a:ext cx="6090217" cy="10287000"/>
          </a:xfrm>
          <a:custGeom>
            <a:avLst/>
            <a:gdLst/>
            <a:ahLst/>
            <a:cxnLst/>
            <a:rect r="r" b="b" t="t" l="l"/>
            <a:pathLst>
              <a:path h="10287000" w="6090217">
                <a:moveTo>
                  <a:pt x="0" y="0"/>
                </a:moveTo>
                <a:lnTo>
                  <a:pt x="6090217" y="0"/>
                </a:lnTo>
                <a:lnTo>
                  <a:pt x="60902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24" r="0" b="-262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05893" y="4041596"/>
            <a:ext cx="8170014" cy="110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7"/>
              </a:lnSpc>
            </a:pPr>
            <a:r>
              <a:rPr lang="en-US" b="true" sz="7303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M</a:t>
            </a:r>
            <a:r>
              <a:rPr lang="en-US" b="true" sz="7303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4361" y="1167493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4361" y="990600"/>
            <a:ext cx="1562804" cy="281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Section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08385" y="8944447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7"/>
              </a:lnSpc>
            </a:pP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361" y="8785479"/>
            <a:ext cx="1562804" cy="70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  <a:p>
            <a:pPr algn="l">
              <a:lnSpc>
                <a:spcPts val="1871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361" y="1028700"/>
            <a:ext cx="1222175" cy="122217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204370" y="3115652"/>
            <a:ext cx="1288482" cy="5319209"/>
            <a:chOff x="0" y="0"/>
            <a:chExt cx="339353" cy="14009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9353" cy="1400944"/>
            </a:xfrm>
            <a:custGeom>
              <a:avLst/>
              <a:gdLst/>
              <a:ahLst/>
              <a:cxnLst/>
              <a:rect r="r" b="b" t="t" l="l"/>
              <a:pathLst>
                <a:path h="1400944" w="339353">
                  <a:moveTo>
                    <a:pt x="0" y="0"/>
                  </a:moveTo>
                  <a:lnTo>
                    <a:pt x="339353" y="0"/>
                  </a:lnTo>
                  <a:lnTo>
                    <a:pt x="339353" y="1400944"/>
                  </a:lnTo>
                  <a:lnTo>
                    <a:pt x="0" y="1400944"/>
                  </a:lnTo>
                  <a:close/>
                </a:path>
              </a:pathLst>
            </a:custGeom>
            <a:solidFill>
              <a:srgbClr val="D5DDE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339353" cy="1496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44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59332" y="1913016"/>
            <a:ext cx="9063328" cy="752604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167644" y="4918691"/>
            <a:ext cx="5976356" cy="218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47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Major demand shock</a:t>
            </a:r>
          </a:p>
          <a:p>
            <a:pPr algn="l" marL="474978" indent="-237489" lvl="1">
              <a:lnSpc>
                <a:spcPts val="347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Severe financial losses and disruptions</a:t>
            </a:r>
          </a:p>
          <a:p>
            <a:pPr algn="l" marL="474978" indent="-237489" lvl="1">
              <a:lnSpc>
                <a:spcPts val="347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Recovery patterns differed by airline type</a:t>
            </a:r>
          </a:p>
          <a:p>
            <a:pPr algn="l" marL="474978" indent="-237489" lvl="1">
              <a:lnSpc>
                <a:spcPts val="347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Justifies dividing analysis into:</a:t>
            </a:r>
          </a:p>
          <a:p>
            <a:pPr algn="l">
              <a:lnSpc>
                <a:spcPts val="3475"/>
              </a:lnSpc>
            </a:pPr>
          </a:p>
        </p:txBody>
      </p:sp>
      <p:sp>
        <p:nvSpPr>
          <p:cNvPr name="AutoShape 9" id="9"/>
          <p:cNvSpPr/>
          <p:nvPr/>
        </p:nvSpPr>
        <p:spPr>
          <a:xfrm rot="0">
            <a:off x="7715289" y="1233391"/>
            <a:ext cx="8097035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935160" y="6914319"/>
            <a:ext cx="1988358" cy="1988358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161643" y="6953949"/>
            <a:ext cx="1988358" cy="1988358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88126" y="6993578"/>
            <a:ext cx="1988358" cy="1988358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167644" y="2430761"/>
            <a:ext cx="6186926" cy="243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8"/>
              </a:lnSpc>
            </a:pPr>
            <a:r>
              <a:rPr lang="en-US" b="true" sz="6600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COVID-19 as a Structural Break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4361" y="8785479"/>
            <a:ext cx="1562804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7644" y="1153889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932071" y="832199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11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62370" y="7919553"/>
            <a:ext cx="178392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6"/>
              </a:lnSpc>
            </a:pPr>
            <a:r>
              <a:rPr lang="en-US" sz="2072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2016-2019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90903" y="7508330"/>
            <a:ext cx="1676873" cy="40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1"/>
              </a:lnSpc>
              <a:spcBef>
                <a:spcPct val="0"/>
              </a:spcBef>
            </a:pPr>
            <a:r>
              <a:rPr lang="en-US" b="true" sz="2531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Pre-Covid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88854" y="7959182"/>
            <a:ext cx="178392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6"/>
              </a:lnSpc>
            </a:pPr>
            <a:r>
              <a:rPr lang="en-US" sz="2072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2020-2021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17386" y="7493661"/>
            <a:ext cx="1676873" cy="40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1"/>
              </a:lnSpc>
              <a:spcBef>
                <a:spcPct val="0"/>
              </a:spcBef>
            </a:pPr>
            <a:r>
              <a:rPr lang="en-US" b="true" sz="2531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Covid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15337" y="7998811"/>
            <a:ext cx="178392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6"/>
              </a:lnSpc>
            </a:pPr>
            <a:r>
              <a:rPr lang="en-US" sz="2072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2022-2025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43869" y="7578063"/>
            <a:ext cx="1676873" cy="38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7"/>
              </a:lnSpc>
              <a:spcBef>
                <a:spcPct val="0"/>
              </a:spcBef>
            </a:pPr>
            <a:r>
              <a:rPr lang="en-US" b="true" sz="2331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Post-Covid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56478" y="8074054"/>
            <a:ext cx="1073348" cy="3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4"/>
              </a:lnSpc>
              <a:spcBef>
                <a:spcPct val="0"/>
              </a:spcBef>
            </a:pPr>
            <a:r>
              <a:rPr lang="en-US" sz="1800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Pre-Covid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44109" y="8074054"/>
            <a:ext cx="609005" cy="3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4"/>
              </a:lnSpc>
              <a:spcBef>
                <a:spcPct val="0"/>
              </a:spcBef>
            </a:pPr>
            <a:r>
              <a:rPr lang="en-US" sz="1800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Covid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993626" y="8034424"/>
            <a:ext cx="1189881" cy="3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4"/>
              </a:lnSpc>
              <a:spcBef>
                <a:spcPct val="0"/>
              </a:spcBef>
            </a:pPr>
            <a:r>
              <a:rPr lang="en-US" sz="1800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Post-</a:t>
            </a:r>
            <a:r>
              <a:rPr lang="en-US" sz="1800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Covid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49512" y="1153088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3" y="0"/>
                </a:lnTo>
                <a:lnTo>
                  <a:pt x="1011873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043" t="-5546" r="-18043" b="-35919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7390303" y="9258300"/>
            <a:ext cx="8097035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00751" y="8172777"/>
            <a:ext cx="1222175" cy="122217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141988" y="2794680"/>
            <a:ext cx="2986642" cy="2986642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05903" y="8297165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2" y="0"/>
                </a:lnTo>
                <a:lnTo>
                  <a:pt x="1011872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t="-5546" r="-18043" b="-3591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67644" y="1245570"/>
            <a:ext cx="714949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0"/>
              </a:lnSpc>
            </a:pPr>
            <a:r>
              <a:rPr lang="en-US" b="true" sz="7000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Majo</a:t>
            </a:r>
            <a:r>
              <a:rPr lang="en-US" b="true" sz="7000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r Datasets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7644" y="9178798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58225" y="8804650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4361" y="1119937"/>
            <a:ext cx="1562804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39665" y="4538887"/>
            <a:ext cx="2679569" cy="50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sz="1610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1610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assengers, departures, capacity, traffic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20064" y="3242914"/>
            <a:ext cx="2518771" cy="127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  <a:spcBef>
                <a:spcPct val="0"/>
              </a:spcBef>
            </a:pPr>
            <a:r>
              <a:rPr lang="en-US" b="true" sz="4155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BTS T-100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507165" y="6706859"/>
            <a:ext cx="14256289" cy="1305605"/>
            <a:chOff x="0" y="0"/>
            <a:chExt cx="3642571" cy="3335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42571" cy="333590"/>
            </a:xfrm>
            <a:custGeom>
              <a:avLst/>
              <a:gdLst/>
              <a:ahLst/>
              <a:cxnLst/>
              <a:rect r="r" b="b" t="t" l="l"/>
              <a:pathLst>
                <a:path h="333590" w="3642571">
                  <a:moveTo>
                    <a:pt x="28339" y="0"/>
                  </a:moveTo>
                  <a:lnTo>
                    <a:pt x="3614233" y="0"/>
                  </a:lnTo>
                  <a:cubicBezTo>
                    <a:pt x="3621749" y="0"/>
                    <a:pt x="3628957" y="2986"/>
                    <a:pt x="3634271" y="8300"/>
                  </a:cubicBezTo>
                  <a:cubicBezTo>
                    <a:pt x="3639586" y="13615"/>
                    <a:pt x="3642571" y="20823"/>
                    <a:pt x="3642571" y="28339"/>
                  </a:cubicBezTo>
                  <a:lnTo>
                    <a:pt x="3642571" y="305252"/>
                  </a:lnTo>
                  <a:cubicBezTo>
                    <a:pt x="3642571" y="312767"/>
                    <a:pt x="3639586" y="319976"/>
                    <a:pt x="3634271" y="325290"/>
                  </a:cubicBezTo>
                  <a:cubicBezTo>
                    <a:pt x="3628957" y="330605"/>
                    <a:pt x="3621749" y="333590"/>
                    <a:pt x="3614233" y="333590"/>
                  </a:cubicBezTo>
                  <a:lnTo>
                    <a:pt x="28339" y="333590"/>
                  </a:lnTo>
                  <a:cubicBezTo>
                    <a:pt x="20823" y="333590"/>
                    <a:pt x="13615" y="330605"/>
                    <a:pt x="8300" y="325290"/>
                  </a:cubicBezTo>
                  <a:cubicBezTo>
                    <a:pt x="2986" y="319976"/>
                    <a:pt x="0" y="312767"/>
                    <a:pt x="0" y="305252"/>
                  </a:cubicBezTo>
                  <a:lnTo>
                    <a:pt x="0" y="28339"/>
                  </a:lnTo>
                  <a:cubicBezTo>
                    <a:pt x="0" y="20823"/>
                    <a:pt x="2986" y="13615"/>
                    <a:pt x="8300" y="8300"/>
                  </a:cubicBezTo>
                  <a:cubicBezTo>
                    <a:pt x="13615" y="2986"/>
                    <a:pt x="20823" y="0"/>
                    <a:pt x="28339" y="0"/>
                  </a:cubicBezTo>
                  <a:close/>
                </a:path>
              </a:pathLst>
            </a:custGeom>
            <a:ln w="104775" cap="rnd">
              <a:solidFill>
                <a:srgbClr val="2E4D8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642571" cy="362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26"/>
                </a:lnSpc>
              </a:pPr>
              <a:r>
                <a:rPr lang="en-US" b="true" sz="3099">
                  <a:solidFill>
                    <a:srgbClr val="2E4D8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Cost + Efficiency + Performance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09938" y="2794680"/>
            <a:ext cx="2986642" cy="2986642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207615" y="4538887"/>
            <a:ext cx="2679569" cy="50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sz="1610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Fin</a:t>
            </a:r>
            <a:r>
              <a:rPr lang="en-US" sz="1610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ancial and operating expense 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88014" y="3242914"/>
            <a:ext cx="2518771" cy="127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  <a:spcBef>
                <a:spcPct val="0"/>
              </a:spcBef>
            </a:pPr>
            <a:r>
              <a:rPr lang="en-US" b="true" sz="4155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BTS Form 41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271630" y="2794680"/>
            <a:ext cx="2986642" cy="2986642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69307" y="4633636"/>
            <a:ext cx="2679569" cy="50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sz="1610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Del</a:t>
            </a:r>
            <a:r>
              <a:rPr lang="en-US" sz="1610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ays, cancellations, reliability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49706" y="3261964"/>
            <a:ext cx="2518771" cy="1373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b="true" sz="3055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BTS On-Time Performance</a:t>
            </a:r>
          </a:p>
        </p:txBody>
      </p:sp>
      <p:sp>
        <p:nvSpPr>
          <p:cNvPr name="AutoShape 25" id="25"/>
          <p:cNvSpPr/>
          <p:nvPr/>
        </p:nvSpPr>
        <p:spPr>
          <a:xfrm>
            <a:off x="5503259" y="5781322"/>
            <a:ext cx="4082746" cy="780330"/>
          </a:xfrm>
          <a:prstGeom prst="line">
            <a:avLst/>
          </a:prstGeom>
          <a:ln cap="flat" w="38100">
            <a:solidFill>
              <a:srgbClr val="2E4D8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 flipH="true">
            <a:off x="9698499" y="5781322"/>
            <a:ext cx="0" cy="961244"/>
          </a:xfrm>
          <a:prstGeom prst="line">
            <a:avLst/>
          </a:prstGeom>
          <a:ln cap="flat" w="38100">
            <a:solidFill>
              <a:srgbClr val="2E4D8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 flipH="true">
            <a:off x="9814270" y="5800372"/>
            <a:ext cx="4013871" cy="875888"/>
          </a:xfrm>
          <a:prstGeom prst="line">
            <a:avLst/>
          </a:prstGeom>
          <a:ln cap="flat" w="38100">
            <a:solidFill>
              <a:srgbClr val="2E4D83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7390303" y="9258300"/>
            <a:ext cx="8097035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00751" y="8172777"/>
            <a:ext cx="1222175" cy="1222175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3167644" y="9178798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58225" y="8804650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4361" y="1119937"/>
            <a:ext cx="1562804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67644" y="1123950"/>
            <a:ext cx="10693709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0"/>
              </a:lnSpc>
            </a:pPr>
            <a:r>
              <a:rPr lang="en-US" b="true" sz="7000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Propos</a:t>
            </a:r>
            <a:r>
              <a:rPr lang="en-US" b="true" sz="7000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ed Methodolog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05903" y="8297165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2" y="0"/>
                </a:lnTo>
                <a:lnTo>
                  <a:pt x="1011872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t="-5546" r="-18043" b="-35919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4893047" y="3702704"/>
            <a:ext cx="2793223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>
            <a:off x="9935128" y="3683654"/>
            <a:ext cx="2793223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2171093" y="4935899"/>
            <a:ext cx="4261098" cy="3216955"/>
            <a:chOff x="0" y="0"/>
            <a:chExt cx="5681464" cy="428927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657094"/>
              <a:ext cx="5681464" cy="3632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Cost per passenger</a:t>
              </a:r>
            </a:p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Cost per departure</a:t>
              </a:r>
            </a:p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Load factor</a:t>
              </a:r>
            </a:p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Passengers per flight</a:t>
              </a:r>
            </a:p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Delay rate</a:t>
              </a:r>
            </a:p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Cancellation rate</a:t>
              </a:r>
            </a:p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Reliability measures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76200"/>
              <a:ext cx="5681464" cy="575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1"/>
                </a:lnSpc>
                <a:spcBef>
                  <a:spcPct val="0"/>
                </a:spcBef>
              </a:pPr>
              <a:r>
                <a:rPr lang="en-US" b="true" sz="2522" u="sng">
                  <a:solidFill>
                    <a:srgbClr val="2E4D8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Construct Indicators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13242" y="4935899"/>
            <a:ext cx="4261098" cy="1654855"/>
            <a:chOff x="0" y="0"/>
            <a:chExt cx="5681464" cy="220647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657094"/>
              <a:ext cx="5681464" cy="1549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Low-cost vs legacy carriers</a:t>
              </a:r>
            </a:p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Pre-COVID vs COVID vs post-COVID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76200"/>
              <a:ext cx="5681464" cy="575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1"/>
                </a:lnSpc>
                <a:spcBef>
                  <a:spcPct val="0"/>
                </a:spcBef>
              </a:pPr>
              <a:r>
                <a:rPr lang="en-US" b="true" sz="2522" u="sng">
                  <a:solidFill>
                    <a:srgbClr val="2E4D8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Compare Airline Types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53612" y="4935899"/>
            <a:ext cx="4261098" cy="2045380"/>
            <a:chOff x="0" y="0"/>
            <a:chExt cx="5681464" cy="272717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657094"/>
              <a:ext cx="5681464" cy="2070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Regression models</a:t>
              </a:r>
            </a:p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Comparative analysis</a:t>
              </a:r>
            </a:p>
            <a:p>
              <a:pPr algn="l" marL="426190" indent="-213095" lvl="1">
                <a:lnSpc>
                  <a:spcPts val="3118"/>
                </a:lnSpc>
                <a:buFont typeface="Arial"/>
                <a:buChar char="•"/>
              </a:pPr>
              <a:r>
                <a:rPr lang="en-US" sz="1974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Possible clustering of airlines by cost/performance profile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76200"/>
              <a:ext cx="5681464" cy="575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1"/>
                </a:lnSpc>
                <a:spcBef>
                  <a:spcPct val="0"/>
                </a:spcBef>
              </a:pPr>
              <a:r>
                <a:rPr lang="en-US" b="true" sz="2522" u="sng">
                  <a:solidFill>
                    <a:srgbClr val="2E4D8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Analyze Relationships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998559" y="3023016"/>
            <a:ext cx="1340327" cy="1340327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3198283" y="3318453"/>
            <a:ext cx="940879" cy="64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8"/>
              </a:lnSpc>
              <a:spcBef>
                <a:spcPct val="0"/>
              </a:spcBef>
            </a:pPr>
            <a:r>
              <a:rPr lang="en-US" b="true" sz="3577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240431" y="3023016"/>
            <a:ext cx="1340327" cy="1340327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280801" y="3023016"/>
            <a:ext cx="1340327" cy="1340327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440155" y="3318453"/>
            <a:ext cx="940879" cy="64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8"/>
              </a:lnSpc>
              <a:spcBef>
                <a:spcPct val="0"/>
              </a:spcBef>
            </a:pPr>
            <a:r>
              <a:rPr lang="en-US" b="true" sz="3577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80525" y="3318453"/>
            <a:ext cx="940879" cy="64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8"/>
              </a:lnSpc>
              <a:spcBef>
                <a:spcPct val="0"/>
              </a:spcBef>
            </a:pPr>
            <a:r>
              <a:rPr lang="en-US" b="true" sz="3577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7644" y="707321"/>
            <a:ext cx="6791386" cy="318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8"/>
              </a:lnSpc>
            </a:pPr>
            <a:r>
              <a:rPr lang="en-US" sz="8600" u="sng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Examining</a:t>
            </a:r>
            <a:r>
              <a:rPr lang="en-US" sz="8600" u="sng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 Questions</a:t>
            </a:r>
          </a:p>
          <a:p>
            <a:pPr algn="l">
              <a:lnSpc>
                <a:spcPts val="7998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715587" y="3763038"/>
            <a:ext cx="3428413" cy="141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Finding a relationship between cost structures and operational efficiency metrics.</a:t>
            </a:r>
          </a:p>
          <a:p>
            <a:pPr algn="l">
              <a:lnSpc>
                <a:spcPts val="284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715587" y="5205343"/>
            <a:ext cx="2716889" cy="5294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CARRIER, </a:t>
            </a:r>
          </a:p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OpExpenses,</a:t>
            </a:r>
          </a:p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UNIQUE_CARRIER,</a:t>
            </a: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715587" y="6967468"/>
            <a:ext cx="3295038" cy="212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Match the carrier ID with the route, aircraft, and segment. Obtain and coordinate data from datasets to develop into numeric variables. </a:t>
            </a:r>
          </a:p>
          <a:p>
            <a:pPr algn="l">
              <a:lnSpc>
                <a:spcPts val="284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277375" y="6967468"/>
            <a:ext cx="3750852" cy="212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Obs</a:t>
            </a: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erve the indicator of Airline Profitability. Comparing cost per mile, cost per passenger, revenue per mile, and revenue per passenger.</a:t>
            </a:r>
          </a:p>
          <a:p>
            <a:pPr algn="l">
              <a:lnSpc>
                <a:spcPts val="284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271576" y="6967468"/>
            <a:ext cx="4430178" cy="177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Understand and measure route profitability. If the Airline is operating efficiently. Is the airline's pricing strategy profitable?</a:t>
            </a:r>
          </a:p>
          <a:p>
            <a:pPr algn="l">
              <a:lnSpc>
                <a:spcPts val="284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271576" y="5205343"/>
            <a:ext cx="2716889" cy="212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AIR_OP_EXPENSE</a:t>
            </a:r>
          </a:p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NetIncome,</a:t>
            </a:r>
          </a:p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OpProfitLoss,</a:t>
            </a: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277375" y="5205343"/>
            <a:ext cx="3153704" cy="388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sz="1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OpRevenues,</a:t>
            </a:r>
          </a:p>
          <a:p>
            <a:pPr algn="l">
              <a:lnSpc>
                <a:spcPts val="2843"/>
              </a:lnSpc>
            </a:pPr>
            <a:r>
              <a:rPr lang="en-US" sz="1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TRAFFIC_EXPENSE,</a:t>
            </a:r>
          </a:p>
          <a:p>
            <a:pPr algn="l">
              <a:lnSpc>
                <a:spcPts val="2843"/>
              </a:lnSpc>
            </a:pPr>
            <a:r>
              <a:rPr lang="en-US" sz="1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FOOD_EXPENSE</a:t>
            </a: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</a:p>
          <a:p>
            <a:pPr algn="l">
              <a:lnSpc>
                <a:spcPts val="284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277375" y="3763038"/>
            <a:ext cx="3651301" cy="141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sz="1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Observe the impact </a:t>
            </a:r>
            <a:r>
              <a:rPr lang="en-US" sz="1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of operating costs on service performance indicators.</a:t>
            </a:r>
          </a:p>
          <a:p>
            <a:pPr algn="l">
              <a:lnSpc>
                <a:spcPts val="284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271576" y="3793040"/>
            <a:ext cx="3987724" cy="177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18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Predict the differences between the airline business models in balancing cost, efficiency, and performance.</a:t>
            </a:r>
          </a:p>
          <a:p>
            <a:pPr algn="l">
              <a:lnSpc>
                <a:spcPts val="2844"/>
              </a:lnSpc>
            </a:pPr>
          </a:p>
          <a:p>
            <a:pPr algn="l">
              <a:lnSpc>
                <a:spcPts val="2844"/>
              </a:lnSpc>
            </a:pPr>
          </a:p>
        </p:txBody>
      </p:sp>
      <p:sp>
        <p:nvSpPr>
          <p:cNvPr name="AutoShape 12" id="12"/>
          <p:cNvSpPr/>
          <p:nvPr/>
        </p:nvSpPr>
        <p:spPr>
          <a:xfrm rot="0">
            <a:off x="7390303" y="9258300"/>
            <a:ext cx="8097035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0">
            <a:off x="3167644" y="5162070"/>
            <a:ext cx="2335615" cy="0"/>
          </a:xfrm>
          <a:prstGeom prst="line">
            <a:avLst/>
          </a:prstGeom>
          <a:ln cap="flat" w="3810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0">
            <a:off x="3167644" y="6724492"/>
            <a:ext cx="2335615" cy="0"/>
          </a:xfrm>
          <a:prstGeom prst="line">
            <a:avLst/>
          </a:prstGeom>
          <a:ln cap="flat" w="3810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5402781" y="6743542"/>
            <a:ext cx="11856519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3167644" y="9178798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58225" y="8804650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09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7644" y="4078790"/>
            <a:ext cx="233561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b="true" sz="2499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Question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67644" y="5503793"/>
            <a:ext cx="233561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b="true" sz="2499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Me</a:t>
            </a:r>
            <a:r>
              <a:rPr lang="en-US" b="true" sz="2499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tric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67644" y="7034143"/>
            <a:ext cx="233561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b="true" sz="2499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Definition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00751" y="8172777"/>
            <a:ext cx="1222175" cy="1222175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44361" y="1119937"/>
            <a:ext cx="1562804" cy="70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  <a:p>
            <a:pPr algn="l">
              <a:lnSpc>
                <a:spcPts val="1871"/>
              </a:lnSpc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05903" y="8297165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2" y="0"/>
                </a:lnTo>
                <a:lnTo>
                  <a:pt x="1011872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t="-5546" r="-18043" b="-35919"/>
            </a:stretch>
          </a:blipFill>
        </p:spPr>
      </p:sp>
      <p:sp>
        <p:nvSpPr>
          <p:cNvPr name="AutoShape 25" id="25"/>
          <p:cNvSpPr/>
          <p:nvPr/>
        </p:nvSpPr>
        <p:spPr>
          <a:xfrm>
            <a:off x="5503259" y="5181120"/>
            <a:ext cx="11856519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4D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507165" y="1150557"/>
            <a:ext cx="8703629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2507165" y="9033474"/>
            <a:ext cx="3983736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197783" y="0"/>
            <a:ext cx="6090217" cy="10287000"/>
          </a:xfrm>
          <a:custGeom>
            <a:avLst/>
            <a:gdLst/>
            <a:ahLst/>
            <a:cxnLst/>
            <a:rect r="r" b="b" t="t" l="l"/>
            <a:pathLst>
              <a:path h="10287000" w="6090217">
                <a:moveTo>
                  <a:pt x="0" y="0"/>
                </a:moveTo>
                <a:lnTo>
                  <a:pt x="6090217" y="0"/>
                </a:lnTo>
                <a:lnTo>
                  <a:pt x="60902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24" r="0" b="-262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05893" y="4041596"/>
            <a:ext cx="8170014" cy="210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7"/>
              </a:lnSpc>
            </a:pPr>
            <a:r>
              <a:rPr lang="en-US" b="true" sz="7303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Curr</a:t>
            </a:r>
            <a:r>
              <a:rPr lang="en-US" b="true" sz="7303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ent Progress and Next Steps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4361" y="1167493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4361" y="990600"/>
            <a:ext cx="1562804" cy="281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Section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08385" y="8944447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67"/>
              </a:lnSpc>
            </a:pP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F8F3EA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361" y="8785479"/>
            <a:ext cx="1562804" cy="70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  <a:p>
            <a:pPr algn="l">
              <a:lnSpc>
                <a:spcPts val="1871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7390303" y="9258300"/>
            <a:ext cx="8097035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8397984"/>
            <a:chOff x="0" y="0"/>
            <a:chExt cx="6186311" cy="28407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86311" cy="2840799"/>
            </a:xfrm>
            <a:custGeom>
              <a:avLst/>
              <a:gdLst/>
              <a:ahLst/>
              <a:cxnLst/>
              <a:rect r="r" b="b" t="t" l="l"/>
              <a:pathLst>
                <a:path h="2840799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40799"/>
                  </a:lnTo>
                  <a:lnTo>
                    <a:pt x="0" y="2840799"/>
                  </a:lnTo>
                  <a:close/>
                </a:path>
              </a:pathLst>
            </a:custGeom>
            <a:solidFill>
              <a:srgbClr val="2E4D8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0751" y="8656738"/>
            <a:ext cx="1222175" cy="1222175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167644" y="9178798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DAT490</a:t>
            </a: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 - Data Science Capstone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58225" y="8804650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361" y="1119937"/>
            <a:ext cx="1562804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67644" y="1123950"/>
            <a:ext cx="13718905" cy="98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3"/>
              </a:lnSpc>
            </a:pPr>
            <a:r>
              <a:rPr lang="en-US" b="true" sz="7100" u="sng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Current Progress + Next Steps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167644" y="3282127"/>
            <a:ext cx="13718905" cy="2240903"/>
            <a:chOff x="0" y="0"/>
            <a:chExt cx="18291873" cy="298787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58945"/>
              <a:ext cx="18291873" cy="2328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844"/>
                </a:lnSpc>
                <a:buFont typeface="Arial"/>
                <a:buChar char="•"/>
              </a:pPr>
              <a:r>
                <a:rPr lang="en-US" sz="1800">
                  <a:solidFill>
                    <a:srgbClr val="F8F3EA"/>
                  </a:solidFill>
                  <a:latin typeface="Telegraf"/>
                  <a:ea typeface="Telegraf"/>
                  <a:cs typeface="Telegraf"/>
                  <a:sym typeface="Telegraf"/>
                </a:rPr>
                <a:t>Defined motivating question and sub-questions</a:t>
              </a:r>
            </a:p>
            <a:p>
              <a:pPr algn="l" marL="388620" indent="-194310" lvl="1">
                <a:lnSpc>
                  <a:spcPts val="2844"/>
                </a:lnSpc>
                <a:buFont typeface="Arial"/>
                <a:buChar char="•"/>
              </a:pPr>
              <a:r>
                <a:rPr lang="en-US" sz="1800">
                  <a:solidFill>
                    <a:srgbClr val="F8F3EA"/>
                  </a:solidFill>
                  <a:latin typeface="Telegraf"/>
                  <a:ea typeface="Telegraf"/>
                  <a:cs typeface="Telegraf"/>
                  <a:sym typeface="Telegraf"/>
                </a:rPr>
                <a:t>Reviewed literature on airline efficiency and performance</a:t>
              </a:r>
            </a:p>
            <a:p>
              <a:pPr algn="l" marL="388620" indent="-194310" lvl="1">
                <a:lnSpc>
                  <a:spcPts val="2844"/>
                </a:lnSpc>
                <a:buFont typeface="Arial"/>
                <a:buChar char="•"/>
              </a:pPr>
              <a:r>
                <a:rPr lang="en-US" sz="1800">
                  <a:solidFill>
                    <a:srgbClr val="F8F3EA"/>
                  </a:solidFill>
                  <a:latin typeface="Telegraf"/>
                  <a:ea typeface="Telegraf"/>
                  <a:cs typeface="Telegraf"/>
                  <a:sym typeface="Telegraf"/>
                </a:rPr>
                <a:t>Identified major datasets</a:t>
              </a:r>
            </a:p>
            <a:p>
              <a:pPr algn="l" marL="388620" indent="-194310" lvl="1">
                <a:lnSpc>
                  <a:spcPts val="2844"/>
                </a:lnSpc>
                <a:buFont typeface="Arial"/>
                <a:buChar char="•"/>
              </a:pPr>
              <a:r>
                <a:rPr lang="en-US" sz="1800">
                  <a:solidFill>
                    <a:srgbClr val="F8F3EA"/>
                  </a:solidFill>
                  <a:latin typeface="Telegraf"/>
                  <a:ea typeface="Telegraf"/>
                  <a:cs typeface="Telegraf"/>
                  <a:sym typeface="Telegraf"/>
                </a:rPr>
                <a:t>Developed preliminary methodology</a:t>
              </a:r>
            </a:p>
            <a:p>
              <a:pPr algn="l">
                <a:lnSpc>
                  <a:spcPts val="2844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76200"/>
              <a:ext cx="18291873" cy="531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300" u="sng">
                  <a:solidFill>
                    <a:srgbClr val="F8F3E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Completed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-10800000">
            <a:off x="3167644" y="5350986"/>
            <a:ext cx="13567273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-10800000">
            <a:off x="3167644" y="3116805"/>
            <a:ext cx="13567273" cy="0"/>
          </a:xfrm>
          <a:prstGeom prst="line">
            <a:avLst/>
          </a:prstGeom>
          <a:ln cap="flat" w="19050">
            <a:solidFill>
              <a:srgbClr val="F8F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05903" y="8790651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2" y="0"/>
                </a:lnTo>
                <a:lnTo>
                  <a:pt x="1011872" y="973398"/>
                </a:lnTo>
                <a:lnTo>
                  <a:pt x="0" y="9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t="-5546" r="-18043" b="-3591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167644" y="5523030"/>
            <a:ext cx="13718905" cy="2240903"/>
            <a:chOff x="0" y="0"/>
            <a:chExt cx="18291873" cy="2987871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658945"/>
              <a:ext cx="18291873" cy="2328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844"/>
                </a:lnSpc>
                <a:buFont typeface="Arial"/>
                <a:buChar char="•"/>
              </a:pPr>
              <a:r>
                <a:rPr lang="en-US" sz="1800">
                  <a:solidFill>
                    <a:srgbClr val="F8F3EA"/>
                  </a:solidFill>
                  <a:latin typeface="Telegraf"/>
                  <a:ea typeface="Telegraf"/>
                  <a:cs typeface="Telegraf"/>
                  <a:sym typeface="Telegraf"/>
                </a:rPr>
                <a:t>Clean and merge BTS datasets</a:t>
              </a:r>
            </a:p>
            <a:p>
              <a:pPr algn="l" marL="388620" indent="-194310" lvl="1">
                <a:lnSpc>
                  <a:spcPts val="2844"/>
                </a:lnSpc>
                <a:buFont typeface="Arial"/>
                <a:buChar char="•"/>
              </a:pPr>
              <a:r>
                <a:rPr lang="en-US" sz="1800">
                  <a:solidFill>
                    <a:srgbClr val="F8F3EA"/>
                  </a:solidFill>
                  <a:latin typeface="Telegraf"/>
                  <a:ea typeface="Telegraf"/>
                  <a:cs typeface="Telegraf"/>
                  <a:sym typeface="Telegraf"/>
                </a:rPr>
                <a:t>Cons</a:t>
              </a:r>
              <a:r>
                <a:rPr lang="en-US" sz="1800">
                  <a:solidFill>
                    <a:srgbClr val="F8F3EA"/>
                  </a:solidFill>
                  <a:latin typeface="Telegraf"/>
                  <a:ea typeface="Telegraf"/>
                  <a:cs typeface="Telegraf"/>
                  <a:sym typeface="Telegraf"/>
                </a:rPr>
                <a:t>truct KPIs</a:t>
              </a:r>
            </a:p>
            <a:p>
              <a:pPr algn="l" marL="388620" indent="-194310" lvl="1">
                <a:lnSpc>
                  <a:spcPts val="2844"/>
                </a:lnSpc>
                <a:buFont typeface="Arial"/>
                <a:buChar char="•"/>
              </a:pPr>
              <a:r>
                <a:rPr lang="en-US" sz="1800">
                  <a:solidFill>
                    <a:srgbClr val="F8F3EA"/>
                  </a:solidFill>
                  <a:latin typeface="Telegraf"/>
                  <a:ea typeface="Telegraf"/>
                  <a:cs typeface="Telegraf"/>
                  <a:sym typeface="Telegraf"/>
                </a:rPr>
                <a:t>Run initial descriptive analysis and regression models</a:t>
              </a:r>
            </a:p>
            <a:p>
              <a:pPr algn="l" marL="388620" indent="-194310" lvl="1">
                <a:lnSpc>
                  <a:spcPts val="2844"/>
                </a:lnSpc>
                <a:buFont typeface="Arial"/>
                <a:buChar char="•"/>
              </a:pPr>
              <a:r>
                <a:rPr lang="en-US" sz="1800">
                  <a:solidFill>
                    <a:srgbClr val="F8F3EA"/>
                  </a:solidFill>
                  <a:latin typeface="Telegraf"/>
                  <a:ea typeface="Telegraf"/>
                  <a:cs typeface="Telegraf"/>
                  <a:sym typeface="Telegraf"/>
                </a:rPr>
                <a:t>R</a:t>
              </a:r>
              <a:r>
                <a:rPr lang="en-US" sz="1800">
                  <a:solidFill>
                    <a:srgbClr val="F8F3EA"/>
                  </a:solidFill>
                  <a:latin typeface="Telegraf"/>
                  <a:ea typeface="Telegraf"/>
                  <a:cs typeface="Telegraf"/>
                  <a:sym typeface="Telegraf"/>
                </a:rPr>
                <a:t>efine comparisons by airline type and time period</a:t>
              </a:r>
            </a:p>
            <a:p>
              <a:pPr algn="l">
                <a:lnSpc>
                  <a:spcPts val="2844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76200"/>
              <a:ext cx="18291873" cy="531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300" u="sng">
                  <a:solidFill>
                    <a:srgbClr val="F8F3E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Next Steps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67644" y="4441908"/>
            <a:ext cx="1882870" cy="188287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80487" y="4467556"/>
            <a:ext cx="1882870" cy="1882870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167644" y="6912134"/>
            <a:ext cx="1882870" cy="188287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80487" y="6912134"/>
            <a:ext cx="1882870" cy="188287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4361" y="1028700"/>
            <a:ext cx="1222175" cy="1222175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4361" y="8785479"/>
            <a:ext cx="1562804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600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April 5th, </a:t>
            </a:r>
          </a:p>
          <a:p>
            <a:pPr algn="l">
              <a:lnSpc>
                <a:spcPts val="1871"/>
              </a:lnSpc>
            </a:pPr>
            <a:r>
              <a:rPr lang="en-US" sz="1599" b="true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7715289" y="1233391"/>
            <a:ext cx="8097035" cy="0"/>
          </a:xfrm>
          <a:prstGeom prst="line">
            <a:avLst/>
          </a:prstGeom>
          <a:ln cap="flat" w="19050">
            <a:solidFill>
              <a:srgbClr val="2E4D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3167644" y="1153889"/>
            <a:ext cx="4671230" cy="21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"/>
              </a:lnSpc>
            </a:pP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DAT490</a:t>
            </a:r>
            <a:r>
              <a:rPr lang="en-US" sz="15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 - Data Science Capstone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932071" y="832199"/>
            <a:ext cx="1116360" cy="77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2"/>
              </a:lnSpc>
              <a:spcBef>
                <a:spcPct val="0"/>
              </a:spcBef>
            </a:pPr>
            <a:r>
              <a:rPr lang="en-US" b="true" sz="4244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16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59852" y="4999858"/>
            <a:ext cx="1698454" cy="91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2"/>
              </a:lnSpc>
              <a:spcBef>
                <a:spcPct val="0"/>
              </a:spcBef>
            </a:pPr>
            <a:r>
              <a:rPr lang="en-US" b="true" sz="5044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72695" y="5025506"/>
            <a:ext cx="1698454" cy="91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2"/>
              </a:lnSpc>
              <a:spcBef>
                <a:spcPct val="0"/>
              </a:spcBef>
            </a:pPr>
            <a:r>
              <a:rPr lang="en-US" b="true" sz="5044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59852" y="7470084"/>
            <a:ext cx="1698454" cy="91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2"/>
              </a:lnSpc>
              <a:spcBef>
                <a:spcPct val="0"/>
              </a:spcBef>
            </a:pPr>
            <a:r>
              <a:rPr lang="en-US" b="true" sz="5044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72695" y="7470084"/>
            <a:ext cx="1698454" cy="91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2"/>
              </a:lnSpc>
              <a:spcBef>
                <a:spcPct val="0"/>
              </a:spcBef>
            </a:pPr>
            <a:r>
              <a:rPr lang="en-US" b="true" sz="5044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64714" y="4936170"/>
            <a:ext cx="1488730" cy="24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  <a:spcBef>
                <a:spcPct val="0"/>
              </a:spcBef>
            </a:pPr>
            <a:r>
              <a:rPr lang="en-US" b="true" sz="1600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Highlight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77557" y="4961818"/>
            <a:ext cx="1488730" cy="24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  <a:spcBef>
                <a:spcPct val="0"/>
              </a:spcBef>
            </a:pPr>
            <a:r>
              <a:rPr lang="en-US" b="true" sz="1600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Highlight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4714" y="7406396"/>
            <a:ext cx="1488730" cy="24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  <a:spcBef>
                <a:spcPct val="0"/>
              </a:spcBef>
            </a:pPr>
            <a:r>
              <a:rPr lang="en-US" b="true" sz="1600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Highlight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77557" y="7406396"/>
            <a:ext cx="1488730" cy="24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  <a:spcBef>
                <a:spcPct val="0"/>
              </a:spcBef>
            </a:pPr>
            <a:r>
              <a:rPr lang="en-US" b="true" sz="1600">
                <a:solidFill>
                  <a:srgbClr val="F8F3EA"/>
                </a:solidFill>
                <a:latin typeface="Telegraf Bold"/>
                <a:ea typeface="Telegraf Bold"/>
                <a:cs typeface="Telegraf Bold"/>
                <a:sym typeface="Telegraf Bold"/>
              </a:rPr>
              <a:t>Highlight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03259" y="5056566"/>
            <a:ext cx="3942757" cy="93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This project exa</a:t>
            </a:r>
            <a:r>
              <a:rPr lang="en-US" sz="16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mines whether lower-cost airline strategies are associated with stronger operational outcomes or with trade-offs in service quality.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47494" y="5079166"/>
            <a:ext cx="3942757" cy="93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literat</a:t>
            </a:r>
            <a:r>
              <a:rPr lang="en-US" sz="16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ure suggests that efficiency is shaped by business model, network design, and resource utilization, not by cost alone.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34651" y="7523744"/>
            <a:ext cx="3942757" cy="93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Using BT</a:t>
            </a:r>
            <a:r>
              <a:rPr lang="en-US" sz="16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 financial, traffic, and on-time performance data, the analysis compares airlines across pre-COVID, COVID, and post-COVID periods.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47494" y="7523744"/>
            <a:ext cx="3942757" cy="93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goal is to better </a:t>
            </a:r>
            <a:r>
              <a:rPr lang="en-US" sz="16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understand how airlines balance cost, efficiency, and performance in a competitive and changing market.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67644" y="2365175"/>
            <a:ext cx="6309764" cy="104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8"/>
              </a:lnSpc>
            </a:pPr>
            <a:r>
              <a:rPr lang="en-US" b="true" sz="7600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49512" y="1153088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3" y="0"/>
                </a:lnTo>
                <a:lnTo>
                  <a:pt x="1011873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t="-5546" r="-18043" b="-35919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361" y="1028700"/>
            <a:ext cx="1222175" cy="122217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4D83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49512" y="1153088"/>
            <a:ext cx="1011872" cy="973399"/>
          </a:xfrm>
          <a:custGeom>
            <a:avLst/>
            <a:gdLst/>
            <a:ahLst/>
            <a:cxnLst/>
            <a:rect r="r" b="b" t="t" l="l"/>
            <a:pathLst>
              <a:path h="973399" w="1011872">
                <a:moveTo>
                  <a:pt x="0" y="0"/>
                </a:moveTo>
                <a:lnTo>
                  <a:pt x="1011873" y="0"/>
                </a:lnTo>
                <a:lnTo>
                  <a:pt x="1011873" y="973399"/>
                </a:lnTo>
                <a:lnTo>
                  <a:pt x="0" y="97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43" t="-5546" r="-18043" b="-359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67644" y="1028700"/>
            <a:ext cx="14091656" cy="5863067"/>
          </a:xfrm>
          <a:custGeom>
            <a:avLst/>
            <a:gdLst/>
            <a:ahLst/>
            <a:cxnLst/>
            <a:rect r="r" b="b" t="t" l="l"/>
            <a:pathLst>
              <a:path h="5863067" w="14091656">
                <a:moveTo>
                  <a:pt x="0" y="0"/>
                </a:moveTo>
                <a:lnTo>
                  <a:pt x="14091656" y="0"/>
                </a:lnTo>
                <a:lnTo>
                  <a:pt x="14091656" y="5863067"/>
                </a:lnTo>
                <a:lnTo>
                  <a:pt x="0" y="5863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281" r="0" b="-6697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67644" y="7552801"/>
            <a:ext cx="4864716" cy="92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1"/>
              </a:lnSpc>
            </a:pPr>
            <a:r>
              <a:rPr lang="en-US" b="true" sz="6700" u="sng">
                <a:solidFill>
                  <a:srgbClr val="2E4D83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67644" y="8536032"/>
            <a:ext cx="13299138" cy="104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2E4D83"/>
                </a:solidFill>
                <a:latin typeface="Telegraf"/>
                <a:ea typeface="Telegraf"/>
                <a:cs typeface="Telegraf"/>
                <a:sym typeface="Telegraf"/>
              </a:rPr>
              <a:t>Presented by: Jood Alaswad, Arnol Garcia, Marissa Miller, Brandon Thacker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DAHF99YODgY</dc:identifier>
  <dcterms:modified xsi:type="dcterms:W3CDTF">2011-08-01T06:04:30Z</dcterms:modified>
  <cp:revision>1</cp:revision>
  <dc:title>Analysis of Airline Cost Efficiencies</dc:title>
</cp:coreProperties>
</file>